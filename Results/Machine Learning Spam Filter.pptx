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56" r:id="rId5"/>
    <p:sldId id="263" r:id="rId6"/>
    <p:sldId id="264" r:id="rId7"/>
    <p:sldId id="265" r:id="rId8"/>
    <p:sldId id="266" r:id="rId9"/>
    <p:sldId id="258" r:id="rId10"/>
    <p:sldId id="259" r:id="rId11"/>
    <p:sldId id="267" r:id="rId12"/>
    <p:sldId id="25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369D87-D00F-2C00-5BAE-5F8891CA6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E76FBF-A564-565A-BBF5-BCC744020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778BF8-CE82-0EE5-E1B6-3A5E87DB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8EF25D-595C-1625-6FC7-7EE3ECDA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6B259B-0DBE-B0FF-F5DA-634C1CA0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30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467F05-C1E8-27C1-E51D-F102E919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8EE1CF-5397-C65E-BB6D-F169B46C7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011601-811F-0FBE-7C1D-E5EA0B463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06F6ED-77FC-DF50-6371-4174034F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76C8E7-CEE8-846C-B02D-55D734885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246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96476-6634-3EAA-823A-9491889DE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4A75CB-2871-E7C9-6EB0-CE82A28E3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4505DE-7BA0-D09D-AFE6-47BC9A6E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E53086-AA70-2373-564C-9BE5FE21C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22E222-DD48-E313-061D-B238FFC2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03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54D80-E6ED-17AF-6FDF-6BCD364A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85CF3C-02B1-C69C-DD97-E39EB7A347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5DD0DD-2675-165B-BE84-F3B3DD929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A55B26-4437-6B1E-AC0A-09176470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F4D6EA-B62B-B810-C207-0A2530D50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26ABEC-0872-371F-224F-A7B073230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686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0440E4-3D1D-DC3C-710C-64A2F4C0C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E66249-03B4-ABF4-624D-44F9EB715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FCAEDBE-AF28-3FC9-1DEE-07990CB81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B408A8D-7DC1-3D7F-1F24-75C1AEF10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E318D2C-0266-7823-70A9-EA9DAE1EB3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3B1BEB8-839F-CF87-C1DC-AE9CFEEBF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9CCA4B5-FAD0-DFF1-B803-B4FEC10A0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67C247C-3440-7647-C896-E2FB3C36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4815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246380-C7A8-2EF2-D8D8-46E3DB41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A1CC47-A24B-6E20-3675-1363894B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090CD6-CAB4-BF43-F6FE-8099D1FC8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2D845A-9FF6-82A1-058E-DA7B2ABF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022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C4BDA9F-583A-49D0-ECAB-78279940D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E6DAB6-2F09-7F68-CE63-BF55999D4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4BC79C-EE54-659A-F453-D498B86B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2502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FAE52B-D81F-F476-8504-1B6DE4139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EB4EC4-E519-80E9-CEF2-763517A63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6A714B-8C98-F6AE-BD64-9D2AA1121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FFC28B-FC24-1BFB-A5B3-C8C14E5A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DFAFC6-2E77-3294-F128-FFB5958E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21CBF6-5D46-6DB4-EF76-370BD541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830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EA8DDD-B32D-0F2B-F9E7-AD4C11D8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B718FB5-6604-D9BC-673F-12FDD666A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E3B10C-6898-ED5A-9D04-B1B30F4A7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E9C7B02-ED6C-3839-2B42-E4EF624F0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5D992E4-A4A8-8DAE-2403-F4ECC737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6280A6-18AF-84A4-3EA9-5A5B3806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869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C3D441-D29F-BF9B-CEF2-51C62ABD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2AA746-7AC7-8086-82CE-5863BEDDF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6DB301-1FDB-FE14-69C3-E49858385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12CE56-55C6-2FF8-390A-47D161A2B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0F4122-4175-73EC-7ECA-349A23D7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410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6C38F1-8306-6E80-EC80-462903317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1AB80D-767E-C694-BDE4-2138F7EA8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D2AB57-0E03-6674-A19E-D4B7B5619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582882-A265-CC21-BBA7-62EFB70BF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1C5D09-7B7E-1FED-FB84-839A0C55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956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DC67E80-4E54-F67D-FB64-AEDD12D5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DEF392-90FD-62A0-93D9-5A6852ACA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144B0-B43F-CD4E-44F8-E5C697BFC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33DFE-C652-4344-B988-2461091AC5EC}" type="datetimeFigureOut">
              <a:rPr lang="de-DE" smtClean="0"/>
              <a:t>15.09.2025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3C3028-78E4-15D3-3997-4494658B7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1D949A-DB7A-394F-7A4A-5D8EE6B10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12947-37FC-4988-81A9-1010C34C25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274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377F80-7FF8-04E0-477C-9888C114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Learning Spam Filter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83573E-7E34-5372-D648-2B8609ADE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Project Goal &amp; Core Task:</a:t>
            </a:r>
          </a:p>
          <a:p>
            <a:r>
              <a:rPr lang="en-US" dirty="0"/>
              <a:t>Develop a robust machine learning model to classify emails as </a:t>
            </a:r>
            <a:r>
              <a:rPr lang="en-US" b="1" dirty="0"/>
              <a:t>Spam (+1)</a:t>
            </a:r>
            <a:r>
              <a:rPr lang="en-US" dirty="0"/>
              <a:t> or </a:t>
            </a:r>
            <a:r>
              <a:rPr lang="en-US" b="1" dirty="0"/>
              <a:t>Not Spam (-1)</a:t>
            </a:r>
            <a:endParaRPr lang="en-US" dirty="0"/>
          </a:p>
          <a:p>
            <a:r>
              <a:rPr lang="en-US" dirty="0"/>
              <a:t>Primary objective: Maintain an extremely low </a:t>
            </a:r>
            <a:r>
              <a:rPr lang="en-US" b="1" dirty="0"/>
              <a:t>False Positive Rate (FPR) </a:t>
            </a:r>
          </a:p>
          <a:p>
            <a:r>
              <a:rPr lang="en-US" dirty="0"/>
              <a:t>Critical focus: Maximize the </a:t>
            </a:r>
            <a:r>
              <a:rPr lang="en-US" b="1" dirty="0"/>
              <a:t>Spam Detection Rate (TPR)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524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25E8DB-FC4B-E1DF-F7A0-CC5792BD9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Key </a:t>
            </a:r>
            <a:r>
              <a:rPr lang="de-DE" dirty="0" err="1"/>
              <a:t>Requirements</a:t>
            </a:r>
            <a:r>
              <a:rPr lang="de-DE" dirty="0"/>
              <a:t> &amp; Constraints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7DBA60-B975-820A-A6A1-F39B656988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40092"/>
            <a:ext cx="1103985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b="1" dirty="0" err="1"/>
              <a:t>Strict</a:t>
            </a:r>
            <a:r>
              <a:rPr lang="de-DE" altLang="de-DE" b="1" dirty="0"/>
              <a:t> FPR Limit: </a:t>
            </a:r>
            <a:r>
              <a:rPr lang="de-DE" altLang="de-DE" dirty="0"/>
              <a:t>The </a:t>
            </a:r>
            <a:r>
              <a:rPr lang="de-DE" altLang="de-DE" dirty="0" err="1"/>
              <a:t>model</a:t>
            </a:r>
            <a:r>
              <a:rPr lang="de-DE" altLang="de-DE" dirty="0"/>
              <a:t> </a:t>
            </a:r>
            <a:r>
              <a:rPr lang="de-DE" altLang="de-DE" dirty="0" err="1"/>
              <a:t>must</a:t>
            </a:r>
            <a:r>
              <a:rPr lang="de-DE" altLang="de-DE" dirty="0"/>
              <a:t> not </a:t>
            </a:r>
            <a:r>
              <a:rPr lang="de-DE" altLang="de-DE" dirty="0" err="1"/>
              <a:t>exceed</a:t>
            </a:r>
            <a:r>
              <a:rPr lang="de-DE" altLang="de-DE" dirty="0"/>
              <a:t> a </a:t>
            </a:r>
            <a:r>
              <a:rPr lang="de-DE" altLang="de-DE" dirty="0" err="1"/>
              <a:t>False</a:t>
            </a:r>
            <a:r>
              <a:rPr lang="de-DE" altLang="de-DE" dirty="0"/>
              <a:t> Positive Rate </a:t>
            </a:r>
            <a:r>
              <a:rPr lang="de-DE" altLang="de-DE" dirty="0" err="1"/>
              <a:t>of</a:t>
            </a:r>
            <a:r>
              <a:rPr lang="de-DE" altLang="de-DE" dirty="0"/>
              <a:t> 0.2%</a:t>
            </a:r>
          </a:p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b="1" dirty="0"/>
              <a:t>High </a:t>
            </a:r>
            <a:r>
              <a:rPr lang="de-DE" altLang="de-DE" b="1" dirty="0" err="1"/>
              <a:t>Priority</a:t>
            </a:r>
            <a:r>
              <a:rPr lang="de-DE" altLang="de-DE" b="1" dirty="0"/>
              <a:t>: </a:t>
            </a:r>
            <a:r>
              <a:rPr lang="de-DE" altLang="de-DE" dirty="0" err="1"/>
              <a:t>Incorrectly</a:t>
            </a:r>
            <a:r>
              <a:rPr lang="de-DE" altLang="de-DE" dirty="0"/>
              <a:t> </a:t>
            </a:r>
            <a:r>
              <a:rPr lang="de-DE" altLang="de-DE" dirty="0" err="1"/>
              <a:t>classifying</a:t>
            </a:r>
            <a:r>
              <a:rPr lang="de-DE" altLang="de-DE" dirty="0"/>
              <a:t> a </a:t>
            </a:r>
            <a:r>
              <a:rPr lang="de-DE" altLang="de-DE" dirty="0" err="1"/>
              <a:t>legitimate</a:t>
            </a:r>
            <a:r>
              <a:rPr lang="de-DE" altLang="de-DE" dirty="0"/>
              <a:t> email (a </a:t>
            </a:r>
            <a:r>
              <a:rPr lang="de-DE" altLang="de-DE" dirty="0" err="1"/>
              <a:t>false</a:t>
            </a:r>
            <a:r>
              <a:rPr lang="de-DE" altLang="de-DE" dirty="0"/>
              <a:t> positive) </a:t>
            </a:r>
            <a:r>
              <a:rPr lang="de-DE" altLang="de-DE" dirty="0" err="1"/>
              <a:t>is</a:t>
            </a:r>
            <a:r>
              <a:rPr lang="de-DE" altLang="de-DE" dirty="0"/>
              <a:t> </a:t>
            </a:r>
            <a:r>
              <a:rPr lang="de-DE" altLang="de-DE" dirty="0" err="1"/>
              <a:t>considered</a:t>
            </a:r>
            <a:r>
              <a:rPr lang="de-DE" altLang="de-DE" dirty="0"/>
              <a:t> a </a:t>
            </a:r>
            <a:r>
              <a:rPr lang="de-DE" altLang="de-DE" dirty="0" err="1"/>
              <a:t>critical</a:t>
            </a:r>
            <a:r>
              <a:rPr lang="de-DE" altLang="de-DE" dirty="0"/>
              <a:t> </a:t>
            </a:r>
            <a:r>
              <a:rPr lang="de-DE" altLang="de-DE" dirty="0" err="1"/>
              <a:t>error</a:t>
            </a:r>
            <a:endParaRPr lang="de-DE" altLang="de-DE" dirty="0"/>
          </a:p>
          <a:p>
            <a:pPr marL="0" marR="0" lvl="0" indent="0" fontAlgn="base"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b="1" dirty="0" err="1"/>
              <a:t>Objective</a:t>
            </a:r>
            <a:r>
              <a:rPr lang="de-DE" altLang="de-DE" b="1" dirty="0"/>
              <a:t>: </a:t>
            </a:r>
            <a:r>
              <a:rPr lang="de-DE" altLang="de-DE" dirty="0"/>
              <a:t>Find a </a:t>
            </a:r>
            <a:r>
              <a:rPr lang="de-DE" altLang="de-DE" dirty="0" err="1"/>
              <a:t>balance</a:t>
            </a:r>
            <a:r>
              <a:rPr lang="de-DE" altLang="de-DE" dirty="0"/>
              <a:t> </a:t>
            </a:r>
            <a:r>
              <a:rPr lang="de-DE" altLang="de-DE" dirty="0" err="1"/>
              <a:t>between</a:t>
            </a:r>
            <a:r>
              <a:rPr lang="de-DE" altLang="de-DE" dirty="0"/>
              <a:t> </a:t>
            </a:r>
            <a:r>
              <a:rPr lang="de-DE" altLang="de-DE" dirty="0" err="1"/>
              <a:t>aggressively</a:t>
            </a:r>
            <a:r>
              <a:rPr lang="de-DE" altLang="de-DE" dirty="0"/>
              <a:t> </a:t>
            </a:r>
            <a:r>
              <a:rPr lang="de-DE" altLang="de-DE" dirty="0" err="1"/>
              <a:t>blocking</a:t>
            </a:r>
            <a:r>
              <a:rPr lang="de-DE" altLang="de-DE" dirty="0"/>
              <a:t> </a:t>
            </a:r>
            <a:r>
              <a:rPr lang="de-DE" altLang="de-DE" dirty="0" err="1"/>
              <a:t>spam</a:t>
            </a:r>
            <a:r>
              <a:rPr lang="de-DE" altLang="de-DE" dirty="0"/>
              <a:t> and </a:t>
            </a:r>
            <a:r>
              <a:rPr lang="de-DE" altLang="de-DE" dirty="0" err="1"/>
              <a:t>ensuring</a:t>
            </a:r>
            <a:r>
              <a:rPr lang="de-DE" altLang="de-DE" dirty="0"/>
              <a:t> </a:t>
            </a:r>
            <a:r>
              <a:rPr lang="de-DE" altLang="de-DE" dirty="0" err="1"/>
              <a:t>no</a:t>
            </a:r>
            <a:r>
              <a:rPr lang="de-DE" altLang="de-DE" dirty="0"/>
              <a:t> </a:t>
            </a:r>
            <a:r>
              <a:rPr lang="de-DE" altLang="de-DE" dirty="0" err="1"/>
              <a:t>important</a:t>
            </a:r>
            <a:r>
              <a:rPr lang="de-DE" altLang="de-DE" dirty="0"/>
              <a:t> </a:t>
            </a:r>
            <a:r>
              <a:rPr lang="de-DE" altLang="de-DE" dirty="0" err="1"/>
              <a:t>emails</a:t>
            </a:r>
            <a:r>
              <a:rPr lang="de-DE" altLang="de-DE" dirty="0"/>
              <a:t> </a:t>
            </a:r>
            <a:r>
              <a:rPr lang="de-DE" altLang="de-DE" dirty="0" err="1"/>
              <a:t>are</a:t>
            </a:r>
            <a:r>
              <a:rPr lang="de-DE" altLang="de-DE" dirty="0"/>
              <a:t> lost</a:t>
            </a:r>
          </a:p>
        </p:txBody>
      </p:sp>
    </p:spTree>
    <p:extLst>
      <p:ext uri="{BB962C8B-B14F-4D97-AF65-F5344CB8AC3E}">
        <p14:creationId xmlns:p14="http://schemas.microsoft.com/office/powerpoint/2010/main" val="238886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28E948-F4B4-1502-8553-28C1A309A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Dataset: A Bag-of-Words Approach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3FBE65-C285-61C9-6EBA-3E5229F761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3772"/>
            <a:ext cx="11195304" cy="439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altLang="de-DE" b="1" dirty="0"/>
              <a:t>Format:</a:t>
            </a:r>
            <a:r>
              <a:rPr lang="de-DE" altLang="de-DE" dirty="0"/>
              <a:t> MATLAB </a:t>
            </a:r>
            <a:r>
              <a:rPr lang="de-DE" altLang="de-DE" dirty="0" err="1"/>
              <a:t>file</a:t>
            </a:r>
            <a:r>
              <a:rPr lang="de-DE" altLang="de-DE" dirty="0"/>
              <a:t> </a:t>
            </a:r>
            <a:r>
              <a:rPr lang="de-DE" altLang="de-DE" dirty="0" err="1"/>
              <a:t>containing</a:t>
            </a:r>
            <a:r>
              <a:rPr lang="de-DE" altLang="de-DE" dirty="0"/>
              <a:t> a </a:t>
            </a:r>
            <a:r>
              <a:rPr lang="de-DE" altLang="de-DE" dirty="0" err="1"/>
              <a:t>sparse</a:t>
            </a:r>
            <a:r>
              <a:rPr lang="de-DE" altLang="de-DE" dirty="0"/>
              <a:t> </a:t>
            </a:r>
            <a:r>
              <a:rPr lang="de-DE" altLang="de-DE" dirty="0" err="1"/>
              <a:t>matrix</a:t>
            </a:r>
            <a:r>
              <a:rPr lang="de-DE" altLang="de-DE" dirty="0"/>
              <a:t> X and a </a:t>
            </a:r>
            <a:r>
              <a:rPr lang="de-DE" altLang="de-DE" dirty="0" err="1"/>
              <a:t>label</a:t>
            </a:r>
            <a:r>
              <a:rPr lang="de-DE" altLang="de-DE" dirty="0"/>
              <a:t> </a:t>
            </a:r>
            <a:r>
              <a:rPr lang="de-DE" altLang="de-DE" dirty="0" err="1"/>
              <a:t>vector</a:t>
            </a:r>
            <a:r>
              <a:rPr lang="de-DE" altLang="de-DE" dirty="0"/>
              <a:t> y</a:t>
            </a: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altLang="de-DE" b="1" dirty="0" err="1"/>
              <a:t>Dimensions</a:t>
            </a:r>
            <a:r>
              <a:rPr lang="de-DE" altLang="de-DE" dirty="0"/>
              <a:t> (after </a:t>
            </a:r>
            <a:r>
              <a:rPr lang="de-DE" altLang="de-DE" dirty="0" err="1"/>
              <a:t>processing</a:t>
            </a:r>
            <a:r>
              <a:rPr lang="de-DE" altLang="de-DE" dirty="0"/>
              <a:t>):</a:t>
            </a:r>
          </a:p>
          <a:p>
            <a:pPr fontAlgn="base">
              <a:spcAft>
                <a:spcPct val="0"/>
              </a:spcAft>
            </a:pPr>
            <a:r>
              <a:rPr lang="de-DE" altLang="de-DE" dirty="0"/>
              <a:t>X: 10,000 </a:t>
            </a:r>
            <a:r>
              <a:rPr lang="de-DE" altLang="de-DE" dirty="0" err="1"/>
              <a:t>samples</a:t>
            </a:r>
            <a:r>
              <a:rPr lang="de-DE" altLang="de-DE" dirty="0"/>
              <a:t> (</a:t>
            </a:r>
            <a:r>
              <a:rPr lang="de-DE" altLang="de-DE" dirty="0" err="1"/>
              <a:t>emails</a:t>
            </a:r>
            <a:r>
              <a:rPr lang="de-DE" altLang="de-DE" dirty="0"/>
              <a:t>) × 57,173 </a:t>
            </a:r>
            <a:r>
              <a:rPr lang="de-DE" altLang="de-DE" dirty="0" err="1"/>
              <a:t>features</a:t>
            </a:r>
            <a:r>
              <a:rPr lang="de-DE" altLang="de-DE" dirty="0"/>
              <a:t> (</a:t>
            </a:r>
            <a:r>
              <a:rPr lang="de-DE" altLang="de-DE" dirty="0" err="1"/>
              <a:t>unique</a:t>
            </a:r>
            <a:r>
              <a:rPr lang="de-DE" altLang="de-DE" dirty="0"/>
              <a:t> </a:t>
            </a:r>
            <a:r>
              <a:rPr lang="de-DE" altLang="de-DE" dirty="0" err="1"/>
              <a:t>words</a:t>
            </a:r>
            <a:r>
              <a:rPr lang="de-DE" altLang="de-DE" dirty="0"/>
              <a:t>)</a:t>
            </a:r>
          </a:p>
          <a:p>
            <a:pPr fontAlgn="base">
              <a:spcAft>
                <a:spcPct val="0"/>
              </a:spcAft>
            </a:pPr>
            <a:r>
              <a:rPr lang="de-DE" altLang="de-DE" dirty="0"/>
              <a:t>y: 10,000 </a:t>
            </a:r>
            <a:r>
              <a:rPr lang="de-DE" altLang="de-DE" dirty="0" err="1"/>
              <a:t>labels</a:t>
            </a:r>
            <a:r>
              <a:rPr lang="de-DE" altLang="de-DE" dirty="0"/>
              <a:t> (+1 </a:t>
            </a:r>
            <a:r>
              <a:rPr lang="de-DE" altLang="de-DE" dirty="0" err="1"/>
              <a:t>for</a:t>
            </a:r>
            <a:r>
              <a:rPr lang="de-DE" altLang="de-DE" dirty="0"/>
              <a:t> Spam, -1 </a:t>
            </a:r>
            <a:r>
              <a:rPr lang="de-DE" altLang="de-DE" dirty="0" err="1"/>
              <a:t>for</a:t>
            </a:r>
            <a:r>
              <a:rPr lang="de-DE" altLang="de-DE" dirty="0"/>
              <a:t> Not Spam)</a:t>
            </a: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de-DE" altLang="de-DE" b="1" dirty="0"/>
              <a:t>Explicit </a:t>
            </a:r>
            <a:r>
              <a:rPr lang="de-DE" altLang="de-DE" b="1" dirty="0" err="1"/>
              <a:t>Example</a:t>
            </a:r>
            <a:r>
              <a:rPr lang="de-DE" altLang="de-DE" b="1" dirty="0"/>
              <a:t>:</a:t>
            </a:r>
          </a:p>
          <a:p>
            <a:pPr fontAlgn="base">
              <a:spcAft>
                <a:spcPct val="0"/>
              </a:spcAft>
            </a:pPr>
            <a:r>
              <a:rPr lang="de-DE" altLang="de-DE" dirty="0"/>
              <a:t>A </a:t>
            </a:r>
            <a:r>
              <a:rPr lang="de-DE" altLang="de-DE" dirty="0" err="1"/>
              <a:t>sparse</a:t>
            </a:r>
            <a:r>
              <a:rPr lang="de-DE" altLang="de-DE" dirty="0"/>
              <a:t> </a:t>
            </a:r>
            <a:r>
              <a:rPr lang="de-DE" altLang="de-DE" dirty="0" err="1"/>
              <a:t>data</a:t>
            </a:r>
            <a:r>
              <a:rPr lang="de-DE" altLang="de-DE" dirty="0"/>
              <a:t> </a:t>
            </a:r>
            <a:r>
              <a:rPr lang="de-DE" altLang="de-DE" dirty="0" err="1"/>
              <a:t>entry</a:t>
            </a:r>
            <a:r>
              <a:rPr lang="de-DE" altLang="de-DE" dirty="0"/>
              <a:t> like (520, 3) -&gt; 4 </a:t>
            </a:r>
            <a:r>
              <a:rPr lang="de-DE" altLang="de-DE" dirty="0" err="1"/>
              <a:t>from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original </a:t>
            </a:r>
            <a:r>
              <a:rPr lang="de-DE" altLang="de-DE" dirty="0" err="1"/>
              <a:t>file</a:t>
            </a:r>
            <a:r>
              <a:rPr lang="de-DE" altLang="de-DE" dirty="0"/>
              <a:t> </a:t>
            </a:r>
            <a:r>
              <a:rPr lang="de-DE" altLang="de-DE" dirty="0" err="1"/>
              <a:t>translates</a:t>
            </a:r>
            <a:r>
              <a:rPr lang="de-DE" altLang="de-DE" dirty="0"/>
              <a:t> </a:t>
            </a:r>
            <a:r>
              <a:rPr lang="de-DE" altLang="de-DE" dirty="0" err="1"/>
              <a:t>to</a:t>
            </a:r>
            <a:r>
              <a:rPr lang="de-DE" altLang="de-DE" dirty="0"/>
              <a:t>: "</a:t>
            </a:r>
            <a:r>
              <a:rPr lang="de-DE" altLang="de-DE" dirty="0" err="1"/>
              <a:t>For</a:t>
            </a:r>
            <a:r>
              <a:rPr lang="de-DE" altLang="de-DE" dirty="0"/>
              <a:t> Email #3, </a:t>
            </a:r>
            <a:r>
              <a:rPr lang="de-DE" altLang="de-DE" dirty="0" err="1"/>
              <a:t>the</a:t>
            </a:r>
            <a:r>
              <a:rPr lang="de-DE" altLang="de-DE" dirty="0"/>
              <a:t> feature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word</a:t>
            </a:r>
            <a:r>
              <a:rPr lang="de-DE" altLang="de-DE" dirty="0"/>
              <a:t> #520 </a:t>
            </a:r>
            <a:r>
              <a:rPr lang="de-DE" altLang="de-DE" dirty="0" err="1"/>
              <a:t>from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vocabulary</a:t>
            </a:r>
            <a:r>
              <a:rPr lang="de-DE" altLang="de-DE" dirty="0"/>
              <a:t> </a:t>
            </a:r>
            <a:r>
              <a:rPr lang="de-DE" altLang="de-DE" dirty="0" err="1"/>
              <a:t>has</a:t>
            </a:r>
            <a:r>
              <a:rPr lang="de-DE" altLang="de-DE" dirty="0"/>
              <a:t> a </a:t>
            </a:r>
            <a:r>
              <a:rPr lang="de-DE" altLang="de-DE" dirty="0" err="1"/>
              <a:t>value</a:t>
            </a:r>
            <a:r>
              <a:rPr lang="de-DE" altLang="de-DE" dirty="0"/>
              <a:t> </a:t>
            </a:r>
            <a:r>
              <a:rPr lang="de-DE" altLang="de-DE" dirty="0" err="1"/>
              <a:t>of</a:t>
            </a:r>
            <a:r>
              <a:rPr lang="de-DE" altLang="de-DE" dirty="0"/>
              <a:t> 4."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56489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72C70AFB-93C3-15E2-F2C4-78053E892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974" y="108197"/>
            <a:ext cx="9400051" cy="66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24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3FF3E-6702-3A55-784B-07573B9B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SVM &amp; Random Forest?</a:t>
            </a:r>
            <a:endParaRPr lang="de-D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ADF3DA-83FA-CBD1-9C0D-5744FCF34C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62193"/>
            <a:ext cx="1091184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b="1" dirty="0"/>
              <a:t>Support Vector </a:t>
            </a:r>
            <a:r>
              <a:rPr lang="de-DE" altLang="de-DE" b="1" dirty="0" err="1"/>
              <a:t>Machine</a:t>
            </a:r>
            <a:r>
              <a:rPr lang="de-DE" altLang="de-DE" b="1" dirty="0"/>
              <a:t> (SVM - Linear Kernel):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/>
              <a:t> </a:t>
            </a:r>
            <a:r>
              <a:rPr lang="de-DE" altLang="de-DE" dirty="0" err="1"/>
              <a:t>Excellent</a:t>
            </a:r>
            <a:r>
              <a:rPr lang="de-DE" altLang="de-DE" dirty="0"/>
              <a:t> </a:t>
            </a:r>
            <a:r>
              <a:rPr lang="de-DE" altLang="de-DE" dirty="0" err="1"/>
              <a:t>performance</a:t>
            </a:r>
            <a:r>
              <a:rPr lang="de-DE" altLang="de-DE" dirty="0"/>
              <a:t> in high-dimensional </a:t>
            </a:r>
            <a:r>
              <a:rPr lang="de-DE" altLang="de-DE" dirty="0" err="1"/>
              <a:t>spaces</a:t>
            </a:r>
            <a:r>
              <a:rPr lang="de-DE" altLang="de-DE" dirty="0"/>
              <a:t> (like </a:t>
            </a:r>
            <a:r>
              <a:rPr lang="de-DE" altLang="de-DE" dirty="0" err="1"/>
              <a:t>text</a:t>
            </a:r>
            <a:r>
              <a:rPr lang="de-DE" altLang="de-DE" dirty="0"/>
              <a:t> </a:t>
            </a:r>
            <a:r>
              <a:rPr lang="de-DE" altLang="de-DE" dirty="0" err="1"/>
              <a:t>data</a:t>
            </a:r>
            <a:r>
              <a:rPr lang="de-DE" altLang="de-DE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/>
              <a:t> </a:t>
            </a:r>
            <a:r>
              <a:rPr lang="de-DE" altLang="de-DE" dirty="0" err="1"/>
              <a:t>Creates</a:t>
            </a:r>
            <a:r>
              <a:rPr lang="de-DE" altLang="de-DE" dirty="0"/>
              <a:t> a maximum-</a:t>
            </a:r>
            <a:r>
              <a:rPr lang="de-DE" altLang="de-DE" dirty="0" err="1"/>
              <a:t>margin</a:t>
            </a:r>
            <a:r>
              <a:rPr lang="de-DE" altLang="de-DE" dirty="0"/>
              <a:t> </a:t>
            </a:r>
            <a:r>
              <a:rPr lang="de-DE" altLang="de-DE" dirty="0" err="1"/>
              <a:t>boundary</a:t>
            </a:r>
            <a:r>
              <a:rPr lang="de-DE" altLang="de-DE" dirty="0"/>
              <a:t>, </a:t>
            </a:r>
            <a:r>
              <a:rPr lang="de-DE" altLang="de-DE" dirty="0" err="1"/>
              <a:t>leading</a:t>
            </a:r>
            <a:r>
              <a:rPr lang="de-DE" altLang="de-DE" dirty="0"/>
              <a:t> </a:t>
            </a:r>
            <a:r>
              <a:rPr lang="de-DE" altLang="de-DE" dirty="0" err="1"/>
              <a:t>to</a:t>
            </a:r>
            <a:r>
              <a:rPr lang="de-DE" altLang="de-DE" dirty="0"/>
              <a:t> strong </a:t>
            </a:r>
            <a:r>
              <a:rPr lang="de-DE" altLang="de-DE" dirty="0" err="1"/>
              <a:t>generalization</a:t>
            </a:r>
            <a:endParaRPr lang="de-DE" altLang="de-D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/>
              <a:t> </a:t>
            </a:r>
            <a:r>
              <a:rPr lang="de-DE" altLang="de-DE" dirty="0" err="1"/>
              <a:t>Highly</a:t>
            </a:r>
            <a:r>
              <a:rPr lang="de-DE" altLang="de-DE" dirty="0"/>
              <a:t> </a:t>
            </a:r>
            <a:r>
              <a:rPr lang="de-DE" altLang="de-DE" dirty="0" err="1"/>
              <a:t>interpretable</a:t>
            </a:r>
            <a:r>
              <a:rPr lang="de-DE" altLang="de-DE" dirty="0"/>
              <a:t>: easy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identify</a:t>
            </a:r>
            <a:r>
              <a:rPr lang="de-DE" altLang="de-DE" dirty="0"/>
              <a:t> </a:t>
            </a:r>
            <a:r>
              <a:rPr lang="de-DE" altLang="de-DE" dirty="0" err="1"/>
              <a:t>which</a:t>
            </a:r>
            <a:r>
              <a:rPr lang="de-DE" altLang="de-DE" dirty="0"/>
              <a:t> </a:t>
            </a:r>
            <a:r>
              <a:rPr lang="de-DE" altLang="de-DE" dirty="0" err="1"/>
              <a:t>words</a:t>
            </a:r>
            <a:r>
              <a:rPr lang="de-DE" altLang="de-DE" dirty="0"/>
              <a:t> </a:t>
            </a:r>
            <a:r>
              <a:rPr lang="de-DE" altLang="de-DE" dirty="0" err="1"/>
              <a:t>influence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classification</a:t>
            </a:r>
            <a:endParaRPr lang="de-DE" altLang="de-D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b="1" dirty="0"/>
              <a:t>Random Forest (RF):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/>
              <a:t> Powerful </a:t>
            </a:r>
            <a:r>
              <a:rPr lang="de-DE" altLang="de-DE" dirty="0" err="1"/>
              <a:t>ensemble</a:t>
            </a:r>
            <a:r>
              <a:rPr lang="de-DE" altLang="de-DE" dirty="0"/>
              <a:t> </a:t>
            </a:r>
            <a:r>
              <a:rPr lang="de-DE" altLang="de-DE" dirty="0" err="1"/>
              <a:t>method</a:t>
            </a:r>
            <a:r>
              <a:rPr lang="de-DE" altLang="de-DE" dirty="0"/>
              <a:t>, robust </a:t>
            </a:r>
            <a:r>
              <a:rPr lang="de-DE" altLang="de-DE" dirty="0" err="1"/>
              <a:t>against</a:t>
            </a:r>
            <a:r>
              <a:rPr lang="de-DE" altLang="de-DE" dirty="0"/>
              <a:t> </a:t>
            </a:r>
            <a:r>
              <a:rPr lang="de-DE" altLang="de-DE" dirty="0" err="1"/>
              <a:t>overfitting</a:t>
            </a:r>
            <a:endParaRPr lang="de-DE" altLang="de-D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/>
              <a:t> Handles non-linear </a:t>
            </a:r>
            <a:r>
              <a:rPr lang="de-DE" altLang="de-DE" dirty="0" err="1"/>
              <a:t>relationships</a:t>
            </a:r>
            <a:r>
              <a:rPr lang="de-DE" altLang="de-DE" dirty="0"/>
              <a:t> in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data</a:t>
            </a:r>
            <a:r>
              <a:rPr lang="de-DE" altLang="de-DE" dirty="0"/>
              <a:t> </a:t>
            </a:r>
            <a:r>
              <a:rPr lang="de-DE" altLang="de-DE" dirty="0" err="1"/>
              <a:t>implicitly</a:t>
            </a:r>
            <a:endParaRPr lang="de-DE" altLang="de-D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/>
              <a:t> </a:t>
            </a:r>
            <a:r>
              <a:rPr lang="de-DE" altLang="de-DE" dirty="0" err="1"/>
              <a:t>Requires</a:t>
            </a:r>
            <a:r>
              <a:rPr lang="de-DE" altLang="de-DE" dirty="0"/>
              <a:t> minimal </a:t>
            </a:r>
            <a:r>
              <a:rPr lang="de-DE" altLang="de-DE" dirty="0" err="1"/>
              <a:t>data</a:t>
            </a:r>
            <a:r>
              <a:rPr lang="de-DE" altLang="de-DE" dirty="0"/>
              <a:t> </a:t>
            </a:r>
            <a:r>
              <a:rPr lang="de-DE" altLang="de-DE" dirty="0" err="1"/>
              <a:t>preprocessing</a:t>
            </a:r>
            <a:r>
              <a:rPr lang="de-DE" altLang="de-DE" dirty="0"/>
              <a:t> and </a:t>
            </a:r>
            <a:r>
              <a:rPr lang="de-DE" altLang="de-DE" dirty="0" err="1"/>
              <a:t>is</a:t>
            </a:r>
            <a:r>
              <a:rPr lang="de-DE" altLang="de-DE" dirty="0"/>
              <a:t> </a:t>
            </a:r>
            <a:r>
              <a:rPr lang="de-DE" altLang="de-DE" dirty="0" err="1"/>
              <a:t>less</a:t>
            </a:r>
            <a:r>
              <a:rPr lang="de-DE" altLang="de-DE" dirty="0"/>
              <a:t> sensitive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outliers</a:t>
            </a:r>
            <a:endParaRPr lang="de-DE" altLang="de-D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36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572174-0FE8-1C34-BC14-E13BC5364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Program</a:t>
            </a:r>
            <a:r>
              <a:rPr lang="de-DE" dirty="0"/>
              <a:t> Architecture &amp;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DDB7D2-AB72-4A9F-B2B4-7B1112FF76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5250"/>
            <a:ext cx="1078774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b="1" dirty="0"/>
              <a:t>1. Data </a:t>
            </a:r>
            <a:r>
              <a:rPr lang="de-DE" altLang="de-DE" b="1" dirty="0" err="1"/>
              <a:t>Loading</a:t>
            </a:r>
            <a:r>
              <a:rPr lang="de-DE" altLang="de-DE" b="1" dirty="0"/>
              <a:t> &amp; </a:t>
            </a:r>
            <a:r>
              <a:rPr lang="de-DE" altLang="de-DE" b="1" dirty="0" err="1"/>
              <a:t>Preparation</a:t>
            </a:r>
            <a:r>
              <a:rPr lang="de-DE" altLang="de-DE" b="1" dirty="0"/>
              <a:t>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dirty="0"/>
              <a:t>Load .</a:t>
            </a:r>
            <a:r>
              <a:rPr lang="de-DE" altLang="de-DE" dirty="0" err="1"/>
              <a:t>mat</a:t>
            </a:r>
            <a:r>
              <a:rPr lang="de-DE" altLang="de-DE" dirty="0"/>
              <a:t> </a:t>
            </a:r>
            <a:r>
              <a:rPr lang="de-DE" altLang="de-DE" dirty="0" err="1"/>
              <a:t>file</a:t>
            </a:r>
            <a:r>
              <a:rPr lang="de-DE" altLang="de-DE" dirty="0"/>
              <a:t>, </a:t>
            </a:r>
            <a:r>
              <a:rPr lang="de-DE" altLang="de-DE" dirty="0" err="1"/>
              <a:t>transpose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matrix</a:t>
            </a:r>
            <a:r>
              <a:rPr lang="de-DE" altLang="de-DE" dirty="0"/>
              <a:t>, and perform a </a:t>
            </a:r>
            <a:r>
              <a:rPr lang="de-DE" altLang="de-DE" dirty="0" err="1"/>
              <a:t>stratified</a:t>
            </a:r>
            <a:r>
              <a:rPr lang="de-DE" altLang="de-DE" dirty="0"/>
              <a:t> 80/20 </a:t>
            </a:r>
            <a:r>
              <a:rPr lang="de-DE" altLang="de-DE" dirty="0" err="1"/>
              <a:t>train</a:t>
            </a:r>
            <a:r>
              <a:rPr lang="de-DE" altLang="de-DE" dirty="0"/>
              <a:t>-test </a:t>
            </a:r>
            <a:r>
              <a:rPr lang="de-DE" altLang="de-DE" dirty="0" err="1"/>
              <a:t>split</a:t>
            </a:r>
            <a:endParaRPr lang="de-DE" altLang="de-D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b="1" dirty="0"/>
              <a:t>2. Threshold </a:t>
            </a:r>
            <a:r>
              <a:rPr lang="de-DE" altLang="de-DE" b="1" dirty="0" err="1"/>
              <a:t>Optimization</a:t>
            </a:r>
            <a:r>
              <a:rPr lang="de-DE" altLang="de-DE" b="1" dirty="0"/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dirty="0"/>
              <a:t>Use 5-fold </a:t>
            </a:r>
            <a:r>
              <a:rPr lang="de-DE" altLang="de-DE" dirty="0" err="1"/>
              <a:t>cross</a:t>
            </a:r>
            <a:r>
              <a:rPr lang="de-DE" altLang="de-DE" dirty="0"/>
              <a:t>-validation on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training</a:t>
            </a:r>
            <a:r>
              <a:rPr lang="de-DE" altLang="de-DE" dirty="0"/>
              <a:t> </a:t>
            </a:r>
            <a:r>
              <a:rPr lang="de-DE" altLang="de-DE" dirty="0" err="1"/>
              <a:t>set</a:t>
            </a:r>
            <a:r>
              <a:rPr lang="de-DE" altLang="de-DE" dirty="0"/>
              <a:t> </a:t>
            </a:r>
            <a:r>
              <a:rPr lang="de-DE" altLang="de-DE" dirty="0" err="1"/>
              <a:t>to</a:t>
            </a:r>
            <a:r>
              <a:rPr lang="de-DE" altLang="de-DE" dirty="0"/>
              <a:t> find </a:t>
            </a:r>
            <a:r>
              <a:rPr lang="de-DE" altLang="de-DE" dirty="0" err="1"/>
              <a:t>the</a:t>
            </a:r>
            <a:r>
              <a:rPr lang="de-DE" altLang="de-DE" dirty="0"/>
              <a:t> optimal </a:t>
            </a:r>
            <a:r>
              <a:rPr lang="de-DE" altLang="de-DE" dirty="0" err="1"/>
              <a:t>classification</a:t>
            </a:r>
            <a:r>
              <a:rPr lang="de-DE" altLang="de-DE" dirty="0"/>
              <a:t> </a:t>
            </a:r>
            <a:r>
              <a:rPr lang="de-DE" altLang="de-DE" dirty="0" err="1"/>
              <a:t>threshold</a:t>
            </a:r>
            <a:endParaRPr lang="de-DE" altLang="de-D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b="1" dirty="0"/>
              <a:t>3. Final Training: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dirty="0"/>
              <a:t>Train </a:t>
            </a:r>
            <a:r>
              <a:rPr lang="de-DE" altLang="de-DE" dirty="0" err="1"/>
              <a:t>the</a:t>
            </a:r>
            <a:r>
              <a:rPr lang="de-DE" altLang="de-DE" dirty="0"/>
              <a:t> final </a:t>
            </a:r>
            <a:r>
              <a:rPr lang="de-DE" altLang="de-DE" dirty="0" err="1"/>
              <a:t>models</a:t>
            </a:r>
            <a:r>
              <a:rPr lang="de-DE" altLang="de-DE" dirty="0"/>
              <a:t> on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entire</a:t>
            </a:r>
            <a:r>
              <a:rPr lang="de-DE" altLang="de-DE" dirty="0"/>
              <a:t> 80% </a:t>
            </a:r>
            <a:r>
              <a:rPr lang="de-DE" altLang="de-DE" dirty="0" err="1"/>
              <a:t>training</a:t>
            </a:r>
            <a:r>
              <a:rPr lang="de-DE" altLang="de-DE" dirty="0"/>
              <a:t> </a:t>
            </a:r>
            <a:r>
              <a:rPr lang="de-DE" altLang="de-DE" dirty="0" err="1"/>
              <a:t>set</a:t>
            </a:r>
            <a:endParaRPr lang="de-DE" altLang="de-D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b="1" dirty="0"/>
              <a:t>4. Evaluation: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de-DE" altLang="de-DE" dirty="0" err="1"/>
              <a:t>Measure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final </a:t>
            </a:r>
            <a:r>
              <a:rPr lang="de-DE" altLang="de-DE" dirty="0" err="1"/>
              <a:t>performance</a:t>
            </a:r>
            <a:r>
              <a:rPr lang="de-DE" altLang="de-DE" dirty="0"/>
              <a:t> (FPR, TPR) on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untouched</a:t>
            </a:r>
            <a:r>
              <a:rPr lang="de-DE" altLang="de-DE" dirty="0"/>
              <a:t> 20% </a:t>
            </a:r>
            <a:r>
              <a:rPr lang="de-DE" altLang="de-DE" dirty="0" err="1"/>
              <a:t>test</a:t>
            </a:r>
            <a:r>
              <a:rPr lang="de-DE" altLang="de-DE" dirty="0"/>
              <a:t> </a:t>
            </a:r>
            <a:r>
              <a:rPr lang="de-DE" altLang="de-DE" dirty="0" err="1"/>
              <a:t>set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460645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0D69DC-5DC4-7228-2D36-D6AF44EE2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Key </a:t>
            </a:r>
            <a:r>
              <a:rPr lang="de-DE" dirty="0" err="1"/>
              <a:t>Technique</a:t>
            </a:r>
            <a:r>
              <a:rPr lang="de-DE" dirty="0"/>
              <a:t>: Threshold </a:t>
            </a:r>
            <a:r>
              <a:rPr lang="de-DE" dirty="0" err="1"/>
              <a:t>Optimization</a:t>
            </a:r>
            <a:endParaRPr lang="de-D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ADF6895-7B81-D707-A3A0-3AAA37175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404224"/>
            <a:ext cx="11021008" cy="3194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de-DE" altLang="de-DE" dirty="0"/>
              <a:t>A </a:t>
            </a:r>
            <a:r>
              <a:rPr lang="de-DE" altLang="de-DE" dirty="0" err="1"/>
              <a:t>standard</a:t>
            </a:r>
            <a:r>
              <a:rPr lang="de-DE" altLang="de-DE" dirty="0"/>
              <a:t> 0.5 </a:t>
            </a:r>
            <a:r>
              <a:rPr lang="de-DE" altLang="de-DE" dirty="0" err="1"/>
              <a:t>threshold</a:t>
            </a:r>
            <a:r>
              <a:rPr lang="de-DE" altLang="de-DE" dirty="0"/>
              <a:t> </a:t>
            </a:r>
            <a:r>
              <a:rPr lang="de-DE" altLang="de-DE" dirty="0" err="1"/>
              <a:t>is</a:t>
            </a:r>
            <a:r>
              <a:rPr lang="de-DE" altLang="de-DE" dirty="0"/>
              <a:t> </a:t>
            </a:r>
            <a:r>
              <a:rPr lang="de-DE" altLang="de-DE" dirty="0" err="1"/>
              <a:t>insufficient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strict</a:t>
            </a:r>
            <a:r>
              <a:rPr lang="de-DE" altLang="de-DE" dirty="0"/>
              <a:t> FPR </a:t>
            </a:r>
            <a:r>
              <a:rPr lang="de-DE" altLang="de-DE" dirty="0" err="1"/>
              <a:t>requirement</a:t>
            </a:r>
            <a:endParaRPr lang="de-DE" altLang="de-DE" dirty="0"/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de-DE" altLang="de-DE" dirty="0"/>
              <a:t>5-fold </a:t>
            </a:r>
            <a:r>
              <a:rPr lang="de-DE" altLang="de-DE" dirty="0" err="1"/>
              <a:t>cross</a:t>
            </a:r>
            <a:r>
              <a:rPr lang="de-DE" altLang="de-DE" dirty="0"/>
              <a:t>-validation </a:t>
            </a:r>
            <a:r>
              <a:rPr lang="de-DE" altLang="de-DE" dirty="0" err="1"/>
              <a:t>is</a:t>
            </a:r>
            <a:r>
              <a:rPr lang="de-DE" altLang="de-DE" dirty="0"/>
              <a:t> </a:t>
            </a:r>
            <a:r>
              <a:rPr lang="de-DE" altLang="de-DE" dirty="0" err="1"/>
              <a:t>used</a:t>
            </a:r>
            <a:r>
              <a:rPr lang="de-DE" altLang="de-DE" dirty="0"/>
              <a:t> </a:t>
            </a:r>
            <a:r>
              <a:rPr lang="de-DE" altLang="de-DE" dirty="0" err="1"/>
              <a:t>to</a:t>
            </a:r>
            <a:r>
              <a:rPr lang="de-DE" altLang="de-DE" dirty="0"/>
              <a:t> find a </a:t>
            </a:r>
            <a:r>
              <a:rPr lang="de-DE" altLang="de-DE" dirty="0" err="1"/>
              <a:t>threshold</a:t>
            </a:r>
            <a:r>
              <a:rPr lang="de-DE" altLang="de-DE" dirty="0"/>
              <a:t> </a:t>
            </a:r>
            <a:r>
              <a:rPr lang="de-DE" altLang="de-DE" dirty="0" err="1"/>
              <a:t>that</a:t>
            </a:r>
            <a:r>
              <a:rPr lang="de-DE" altLang="de-DE" dirty="0"/>
              <a:t> </a:t>
            </a:r>
            <a:r>
              <a:rPr lang="de-DE" altLang="de-DE" dirty="0" err="1"/>
              <a:t>maximizes</a:t>
            </a:r>
            <a:r>
              <a:rPr lang="de-DE" altLang="de-DE" dirty="0"/>
              <a:t> TPR </a:t>
            </a:r>
            <a:r>
              <a:rPr lang="de-DE" altLang="de-DE" dirty="0" err="1"/>
              <a:t>while</a:t>
            </a:r>
            <a:r>
              <a:rPr lang="de-DE" altLang="de-DE" dirty="0"/>
              <a:t> </a:t>
            </a:r>
            <a:r>
              <a:rPr lang="de-DE" altLang="de-DE" dirty="0" err="1"/>
              <a:t>staying</a:t>
            </a:r>
            <a:r>
              <a:rPr lang="de-DE" altLang="de-DE" dirty="0"/>
              <a:t> </a:t>
            </a:r>
            <a:r>
              <a:rPr lang="de-DE" altLang="de-DE" dirty="0" err="1"/>
              <a:t>below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0.2% FPR </a:t>
            </a:r>
            <a:r>
              <a:rPr lang="de-DE" altLang="de-DE" dirty="0" err="1"/>
              <a:t>limit</a:t>
            </a:r>
            <a:endParaRPr lang="de-DE" altLang="de-DE" dirty="0"/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de-DE" altLang="de-DE" dirty="0"/>
              <a:t>The </a:t>
            </a:r>
            <a:r>
              <a:rPr lang="de-DE" altLang="de-DE" b="1" dirty="0"/>
              <a:t>maximum </a:t>
            </a:r>
            <a:r>
              <a:rPr lang="de-DE" altLang="de-DE" b="1" dirty="0" err="1"/>
              <a:t>threshold</a:t>
            </a:r>
            <a:r>
              <a:rPr lang="de-DE" altLang="de-DE" b="1" dirty="0"/>
              <a:t> </a:t>
            </a:r>
            <a:r>
              <a:rPr lang="de-DE" altLang="de-DE" dirty="0" err="1"/>
              <a:t>from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5 </a:t>
            </a:r>
            <a:r>
              <a:rPr lang="de-DE" altLang="de-DE" dirty="0" err="1"/>
              <a:t>folds</a:t>
            </a:r>
            <a:r>
              <a:rPr lang="de-DE" altLang="de-DE" dirty="0"/>
              <a:t> </a:t>
            </a:r>
            <a:r>
              <a:rPr lang="de-DE" altLang="de-DE" dirty="0" err="1"/>
              <a:t>is</a:t>
            </a:r>
            <a:r>
              <a:rPr lang="de-DE" altLang="de-DE" dirty="0"/>
              <a:t> </a:t>
            </a:r>
            <a:r>
              <a:rPr lang="de-DE" altLang="de-DE" dirty="0" err="1"/>
              <a:t>chosen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a </a:t>
            </a:r>
            <a:r>
              <a:rPr lang="de-DE" altLang="de-DE" dirty="0" err="1"/>
              <a:t>conservative</a:t>
            </a:r>
            <a:r>
              <a:rPr lang="de-DE" altLang="de-DE" dirty="0"/>
              <a:t> and robust final </a:t>
            </a:r>
            <a:r>
              <a:rPr lang="de-DE" altLang="de-DE" dirty="0" err="1"/>
              <a:t>model</a:t>
            </a:r>
            <a:endParaRPr lang="de-DE" altLang="de-DE" dirty="0"/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de-DE" altLang="de-DE" dirty="0"/>
              <a:t>This </a:t>
            </a:r>
            <a:r>
              <a:rPr lang="de-DE" altLang="de-DE" dirty="0" err="1"/>
              <a:t>process</a:t>
            </a:r>
            <a:r>
              <a:rPr lang="de-DE" altLang="de-DE" dirty="0"/>
              <a:t> </a:t>
            </a:r>
            <a:r>
              <a:rPr lang="de-DE" altLang="de-DE" dirty="0" err="1"/>
              <a:t>ensures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threshold</a:t>
            </a:r>
            <a:r>
              <a:rPr lang="de-DE" altLang="de-DE" dirty="0"/>
              <a:t> </a:t>
            </a:r>
            <a:r>
              <a:rPr lang="de-DE" altLang="de-DE" dirty="0" err="1"/>
              <a:t>is</a:t>
            </a:r>
            <a:r>
              <a:rPr lang="de-DE" altLang="de-DE" dirty="0"/>
              <a:t> </a:t>
            </a:r>
            <a:r>
              <a:rPr lang="de-DE" altLang="de-DE" dirty="0" err="1"/>
              <a:t>optimized</a:t>
            </a:r>
            <a:r>
              <a:rPr lang="de-DE" altLang="de-DE" dirty="0"/>
              <a:t> </a:t>
            </a:r>
            <a:r>
              <a:rPr lang="de-DE" altLang="de-DE" dirty="0" err="1"/>
              <a:t>without</a:t>
            </a:r>
            <a:r>
              <a:rPr lang="de-DE" altLang="de-DE" dirty="0"/>
              <a:t> </a:t>
            </a:r>
            <a:r>
              <a:rPr lang="de-DE" altLang="de-DE" dirty="0" err="1"/>
              <a:t>data</a:t>
            </a:r>
            <a:r>
              <a:rPr lang="de-DE" altLang="de-DE" dirty="0"/>
              <a:t> </a:t>
            </a:r>
            <a:r>
              <a:rPr lang="de-DE" altLang="de-DE" dirty="0" err="1"/>
              <a:t>leakage</a:t>
            </a:r>
            <a:r>
              <a:rPr lang="de-DE" altLang="de-DE" dirty="0"/>
              <a:t> </a:t>
            </a:r>
            <a:r>
              <a:rPr lang="de-DE" altLang="de-DE" dirty="0" err="1"/>
              <a:t>from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test</a:t>
            </a:r>
            <a:r>
              <a:rPr lang="de-DE" altLang="de-DE" dirty="0"/>
              <a:t> </a:t>
            </a:r>
            <a:r>
              <a:rPr lang="de-DE" altLang="de-DE" dirty="0" err="1"/>
              <a:t>set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255412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EBA395-EA3B-AB79-08EA-EA3959F64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Final Evaluation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22ED16-52D6-4CC3-C219-0801B59E7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8646"/>
            <a:ext cx="1084372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Models </a:t>
            </a:r>
            <a:r>
              <a:rPr lang="de-DE" altLang="de-DE" dirty="0" err="1"/>
              <a:t>are</a:t>
            </a:r>
            <a:r>
              <a:rPr lang="de-DE" altLang="de-DE" dirty="0"/>
              <a:t> </a:t>
            </a:r>
            <a:r>
              <a:rPr lang="de-DE" altLang="de-DE" dirty="0" err="1"/>
              <a:t>trained</a:t>
            </a:r>
            <a:r>
              <a:rPr lang="de-DE" altLang="de-DE" dirty="0"/>
              <a:t> on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full</a:t>
            </a:r>
            <a:r>
              <a:rPr lang="de-DE" altLang="de-DE" dirty="0"/>
              <a:t> </a:t>
            </a:r>
            <a:r>
              <a:rPr lang="de-DE" altLang="de-DE" dirty="0" err="1"/>
              <a:t>development</a:t>
            </a:r>
            <a:r>
              <a:rPr lang="de-DE" altLang="de-DE" dirty="0"/>
              <a:t> </a:t>
            </a:r>
            <a:r>
              <a:rPr lang="de-DE" altLang="de-DE" dirty="0" err="1"/>
              <a:t>set</a:t>
            </a:r>
            <a:r>
              <a:rPr lang="de-DE" altLang="de-DE" dirty="0"/>
              <a:t> (</a:t>
            </a:r>
            <a:r>
              <a:rPr lang="de-DE" altLang="de-DE" dirty="0" err="1"/>
              <a:t>X_dev</a:t>
            </a:r>
            <a:r>
              <a:rPr lang="de-DE" altLang="de-DE" dirty="0"/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Performance </a:t>
            </a:r>
            <a:r>
              <a:rPr lang="de-DE" altLang="de-DE" dirty="0" err="1"/>
              <a:t>is</a:t>
            </a:r>
            <a:r>
              <a:rPr lang="de-DE" altLang="de-DE" dirty="0"/>
              <a:t> </a:t>
            </a:r>
            <a:r>
              <a:rPr lang="de-DE" altLang="de-DE" dirty="0" err="1"/>
              <a:t>measured</a:t>
            </a:r>
            <a:r>
              <a:rPr lang="de-DE" altLang="de-DE" dirty="0"/>
              <a:t> on </a:t>
            </a:r>
            <a:r>
              <a:rPr lang="de-DE" altLang="de-DE" dirty="0" err="1"/>
              <a:t>the</a:t>
            </a:r>
            <a:r>
              <a:rPr lang="de-DE" altLang="de-DE" dirty="0"/>
              <a:t> hold-out </a:t>
            </a:r>
            <a:r>
              <a:rPr lang="de-DE" altLang="de-DE" dirty="0" err="1"/>
              <a:t>test</a:t>
            </a:r>
            <a:r>
              <a:rPr lang="de-DE" altLang="de-DE" dirty="0"/>
              <a:t> </a:t>
            </a:r>
            <a:r>
              <a:rPr lang="de-DE" altLang="de-DE" dirty="0" err="1"/>
              <a:t>set</a:t>
            </a:r>
            <a:r>
              <a:rPr lang="de-DE" altLang="de-DE" dirty="0"/>
              <a:t> (</a:t>
            </a:r>
            <a:r>
              <a:rPr lang="de-DE" altLang="de-DE" dirty="0" err="1"/>
              <a:t>X_test</a:t>
            </a:r>
            <a:r>
              <a:rPr lang="de-DE" altLang="de-DE" dirty="0"/>
              <a:t>), </a:t>
            </a:r>
            <a:r>
              <a:rPr lang="de-DE" altLang="de-DE" dirty="0" err="1"/>
              <a:t>which</a:t>
            </a:r>
            <a:r>
              <a:rPr lang="de-DE" altLang="de-DE" dirty="0"/>
              <a:t> </a:t>
            </a:r>
            <a:r>
              <a:rPr lang="de-DE" altLang="de-DE" dirty="0" err="1"/>
              <a:t>the</a:t>
            </a:r>
            <a:r>
              <a:rPr lang="de-DE" altLang="de-DE" dirty="0"/>
              <a:t> </a:t>
            </a:r>
            <a:r>
              <a:rPr lang="de-DE" altLang="de-DE" dirty="0" err="1"/>
              <a:t>model</a:t>
            </a:r>
            <a:r>
              <a:rPr lang="de-DE" altLang="de-DE" dirty="0"/>
              <a:t> </a:t>
            </a:r>
            <a:r>
              <a:rPr lang="de-DE" altLang="de-DE" dirty="0" err="1"/>
              <a:t>has</a:t>
            </a:r>
            <a:r>
              <a:rPr lang="de-DE" altLang="de-DE" dirty="0"/>
              <a:t> </a:t>
            </a:r>
            <a:r>
              <a:rPr lang="de-DE" altLang="de-DE" dirty="0" err="1"/>
              <a:t>never</a:t>
            </a:r>
            <a:r>
              <a:rPr lang="de-DE" altLang="de-DE" dirty="0"/>
              <a:t> </a:t>
            </a:r>
            <a:r>
              <a:rPr lang="de-DE" altLang="de-DE" dirty="0" err="1"/>
              <a:t>seen</a:t>
            </a:r>
            <a:endParaRPr lang="de-DE" altLang="de-DE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/>
              <a:t>Key </a:t>
            </a:r>
            <a:r>
              <a:rPr lang="de-DE" altLang="de-DE" dirty="0" err="1"/>
              <a:t>metrics</a:t>
            </a:r>
            <a:r>
              <a:rPr lang="de-DE" altLang="de-DE" dirty="0"/>
              <a:t>: </a:t>
            </a:r>
            <a:r>
              <a:rPr lang="de-DE" altLang="de-DE" dirty="0" err="1"/>
              <a:t>Resulting</a:t>
            </a:r>
            <a:r>
              <a:rPr lang="de-DE" altLang="de-DE" dirty="0"/>
              <a:t> FPR and Spam </a:t>
            </a:r>
            <a:r>
              <a:rPr lang="de-DE" altLang="de-DE" dirty="0" err="1"/>
              <a:t>Detection</a:t>
            </a:r>
            <a:r>
              <a:rPr lang="de-DE" altLang="de-DE" dirty="0"/>
              <a:t> Rate (TPR)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/>
              <a:t>Results</a:t>
            </a:r>
            <a:r>
              <a:rPr lang="de-DE" altLang="de-DE" dirty="0"/>
              <a:t> </a:t>
            </a:r>
            <a:r>
              <a:rPr lang="de-DE" altLang="de-DE" dirty="0" err="1"/>
              <a:t>are</a:t>
            </a:r>
            <a:r>
              <a:rPr lang="de-DE" altLang="de-DE" dirty="0"/>
              <a:t> </a:t>
            </a:r>
            <a:r>
              <a:rPr lang="de-DE" altLang="de-DE" dirty="0" err="1"/>
              <a:t>visualized</a:t>
            </a:r>
            <a:r>
              <a:rPr lang="de-DE" altLang="de-DE" dirty="0"/>
              <a:t> </a:t>
            </a:r>
            <a:r>
              <a:rPr lang="de-DE" altLang="de-DE" dirty="0" err="1"/>
              <a:t>using</a:t>
            </a:r>
            <a:r>
              <a:rPr lang="de-DE" altLang="de-DE" dirty="0"/>
              <a:t> </a:t>
            </a:r>
            <a:r>
              <a:rPr lang="de-DE" altLang="de-DE" dirty="0" err="1"/>
              <a:t>confusion</a:t>
            </a:r>
            <a:r>
              <a:rPr lang="de-DE" altLang="de-DE" dirty="0"/>
              <a:t> </a:t>
            </a:r>
            <a:r>
              <a:rPr lang="de-DE" altLang="de-DE" dirty="0" err="1"/>
              <a:t>matrices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565771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C7F0C712-83BE-A536-6808-F34E22E50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033" y="0"/>
            <a:ext cx="9199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31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Rechteck, Schrift enthält.&#10;&#10;KI-generierte Inhalte können fehlerhaft sein.">
            <a:extLst>
              <a:ext uri="{FF2B5EF4-FFF2-40B4-BE49-F238E27FC236}">
                <a16:creationId xmlns:a16="http://schemas.microsoft.com/office/drawing/2014/main" id="{DFEBE9F2-FFFD-7BD0-D74D-A879B6E59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094" y="0"/>
            <a:ext cx="93038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63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E7475-DD43-0DFF-248A-47DB16AA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on Hold-Out Test Set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E3782131-9DCD-386C-2F86-D84C7384D70E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107168" cy="1484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de-DE" altLang="de-DE" b="1" dirty="0"/>
                  <a:t>Random Forest: </a:t>
                </a:r>
                <a:r>
                  <a:rPr lang="de-DE" altLang="de-DE" dirty="0" err="1"/>
                  <a:t>Detects</a:t>
                </a:r>
                <a:r>
                  <a:rPr lang="de-DE" altLang="de-DE" dirty="0"/>
                  <a:t> 93.59% </a:t>
                </a:r>
                <a:r>
                  <a:rPr lang="de-DE" altLang="de-DE" dirty="0" err="1"/>
                  <a:t>of</a:t>
                </a:r>
                <a:r>
                  <a:rPr lang="de-DE" altLang="de-DE" dirty="0"/>
                  <a:t> all </a:t>
                </a:r>
                <a:r>
                  <a:rPr lang="de-DE" altLang="de-DE" dirty="0" err="1"/>
                  <a:t>actual</a:t>
                </a:r>
                <a:r>
                  <a:rPr lang="de-DE" altLang="de-DE" dirty="0"/>
                  <a:t> </a:t>
                </a:r>
                <a:r>
                  <a:rPr lang="de-DE" altLang="de-DE" dirty="0" err="1"/>
                  <a:t>spam</a:t>
                </a:r>
                <a:r>
                  <a:rPr lang="de-DE" altLang="de-DE" dirty="0"/>
                  <a:t> </a:t>
                </a:r>
                <a:r>
                  <a:rPr lang="de-DE" altLang="de-DE" dirty="0" err="1"/>
                  <a:t>emails</a:t>
                </a:r>
                <a:endParaRPr lang="de-DE" altLang="de-DE" dirty="0"/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de-DE" altLang="de-DE" b="1" dirty="0"/>
                  <a:t>SVM: </a:t>
                </a:r>
                <a:r>
                  <a:rPr lang="de-DE" altLang="de-DE" dirty="0" err="1"/>
                  <a:t>Detects</a:t>
                </a:r>
                <a:r>
                  <a:rPr lang="de-DE" altLang="de-DE" dirty="0"/>
                  <a:t> 83.19% </a:t>
                </a:r>
                <a:r>
                  <a:rPr lang="de-DE" altLang="de-DE" dirty="0" err="1"/>
                  <a:t>of</a:t>
                </a:r>
                <a:r>
                  <a:rPr lang="de-DE" altLang="de-DE" dirty="0"/>
                  <a:t> all </a:t>
                </a:r>
                <a:r>
                  <a:rPr lang="de-DE" altLang="de-DE" dirty="0" err="1"/>
                  <a:t>actual</a:t>
                </a:r>
                <a:r>
                  <a:rPr lang="de-DE" altLang="de-DE" dirty="0"/>
                  <a:t> </a:t>
                </a:r>
                <a:r>
                  <a:rPr lang="de-DE" altLang="de-DE" dirty="0" err="1"/>
                  <a:t>spam</a:t>
                </a:r>
                <a:r>
                  <a:rPr lang="de-DE" altLang="de-DE" dirty="0"/>
                  <a:t> </a:t>
                </a:r>
                <a:r>
                  <a:rPr lang="de-DE" altLang="de-DE" dirty="0" err="1"/>
                  <a:t>emails</a:t>
                </a:r>
                <a:endParaRPr lang="de-DE" altLang="de-DE" dirty="0"/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de-DE" altLang="de-DE" b="1" dirty="0"/>
                  <a:t>Formula</a:t>
                </a:r>
                <a:r>
                  <a:rPr lang="de-DE" altLang="de-DE" dirty="0"/>
                  <a:t> (Spam </a:t>
                </a:r>
                <a:r>
                  <a:rPr lang="de-DE" altLang="de-DE" dirty="0" err="1"/>
                  <a:t>Detection</a:t>
                </a:r>
                <a:r>
                  <a:rPr lang="de-DE" altLang="de-DE" dirty="0"/>
                  <a:t> Rate): Recall=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altLang="de-DE" b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altLang="de-DE" b="1" i="0">
                            <a:latin typeface="Cambria Math" panose="02040503050406030204" pitchFamily="18" charset="0"/>
                          </a:rPr>
                          <m:t>𝐓𝐏</m:t>
                        </m:r>
                      </m:num>
                      <m:den>
                        <m:r>
                          <a:rPr lang="de-DE" altLang="de-DE" b="1" i="0">
                            <a:latin typeface="Cambria Math" panose="02040503050406030204" pitchFamily="18" charset="0"/>
                          </a:rPr>
                          <m:t>𝐓𝐏</m:t>
                        </m:r>
                        <m:r>
                          <a:rPr lang="de-DE" altLang="de-DE" b="1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altLang="de-DE" b="1" i="0">
                            <a:latin typeface="Cambria Math" panose="02040503050406030204" pitchFamily="18" charset="0"/>
                          </a:rPr>
                          <m:t>𝐅𝐍</m:t>
                        </m:r>
                      </m:den>
                    </m:f>
                  </m:oMath>
                </a14:m>
                <a:endParaRPr kumimoji="0" lang="de-DE" altLang="de-DE" b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E3782131-9DCD-386C-2F86-D84C7384D70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107168" cy="1484894"/>
              </a:xfrm>
              <a:prstGeom prst="rect">
                <a:avLst/>
              </a:prstGeom>
              <a:blipFill>
                <a:blip r:embed="rId2"/>
                <a:stretch>
                  <a:fillRect l="-1267" t="-409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feld 4">
            <a:extLst>
              <a:ext uri="{FF2B5EF4-FFF2-40B4-BE49-F238E27FC236}">
                <a16:creationId xmlns:a16="http://schemas.microsoft.com/office/drawing/2014/main" id="{02ABBC0E-F034-902A-45DF-B68E8643AF05}"/>
              </a:ext>
            </a:extLst>
          </p:cNvPr>
          <p:cNvSpPr txBox="1"/>
          <p:nvPr/>
        </p:nvSpPr>
        <p:spPr>
          <a:xfrm>
            <a:off x="838200" y="3944404"/>
            <a:ext cx="904646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buNone/>
              <a:defRPr sz="2800"/>
            </a:lvl1pPr>
          </a:lstStyle>
          <a:p>
            <a:r>
              <a:rPr lang="en-US" b="1" dirty="0"/>
              <a:t>-&gt; Recommendation: Random Forest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Highest Spam Detection (93.59%)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Zero False Positives (0.00% FPR)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Optimal balance of performance &amp; security</a:t>
            </a:r>
          </a:p>
        </p:txBody>
      </p:sp>
    </p:spTree>
    <p:extLst>
      <p:ext uri="{BB962C8B-B14F-4D97-AF65-F5344CB8AC3E}">
        <p14:creationId xmlns:p14="http://schemas.microsoft.com/office/powerpoint/2010/main" val="1079278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F5350995-C097-0335-CE5E-47E082952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13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Office PowerPoint</Application>
  <PresentationFormat>Breitbild</PresentationFormat>
  <Paragraphs>52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</vt:lpstr>
      <vt:lpstr>Machine Learning Spam Filter</vt:lpstr>
      <vt:lpstr>Key Requirements &amp; Constraints</vt:lpstr>
      <vt:lpstr>The Dataset: A Bag-of-Words Approach</vt:lpstr>
      <vt:lpstr>PowerPoint-Präsentation</vt:lpstr>
      <vt:lpstr>Why SVM &amp; Random Forest?</vt:lpstr>
      <vt:lpstr>Program Architecture &amp; Workflow</vt:lpstr>
      <vt:lpstr>Key Technique: Threshold Optimization</vt:lpstr>
      <vt:lpstr>Final Evaluation</vt:lpstr>
      <vt:lpstr>PowerPoint-Präsentation</vt:lpstr>
      <vt:lpstr>PowerPoint-Präsentation</vt:lpstr>
      <vt:lpstr>Performance on Hold-Out Test Set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Ruven Grosser</dc:creator>
  <cp:lastModifiedBy>Ruven Grosser</cp:lastModifiedBy>
  <cp:revision>3</cp:revision>
  <dcterms:created xsi:type="dcterms:W3CDTF">2025-09-15T21:36:44Z</dcterms:created>
  <dcterms:modified xsi:type="dcterms:W3CDTF">2025-09-16T03:30:16Z</dcterms:modified>
</cp:coreProperties>
</file>